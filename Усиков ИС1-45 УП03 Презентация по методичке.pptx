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 rot="1080000">
            <a:off x="8366760" y="-2148840"/>
            <a:ext cx="6035040" cy="4480560"/>
          </a:xfrm>
          <a:prstGeom prst="roundRect">
            <a:avLst/>
          </a:prstGeom>
          <a:solidFill>
            <a:srgbClr val="EDF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09960" y="5074920"/>
            <a:ext cx="2468880" cy="2468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18120" y="5257800"/>
            <a:ext cx="502920" cy="502920"/>
          </a:xfrm>
          <a:prstGeom prst="ellipse">
            <a:avLst/>
          </a:prstGeom>
          <a:solidFill>
            <a:srgbClr val="C6D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A2A21"/>
                </a:solidFill>
                <a:latin typeface="Segoe UI"/>
              </a:rPr>
              <a:t>ГПОУ ЯО «Ярославский градостроительный колледж»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680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F4E37"/>
                </a:solidFill>
                <a:latin typeface="Segoe UI"/>
              </a:rPr>
              <a:t>Специальность 09.02.07 · Информационные системы и программирование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89888"/>
            <a:ext cx="457200" cy="68580"/>
          </a:xfrm>
          <a:prstGeom prst="rect">
            <a:avLst/>
          </a:prstGeom>
          <a:solidFill>
            <a:srgbClr val="C6D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1280160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F4E37"/>
                </a:solidFill>
                <a:latin typeface="Segoe UI"/>
              </a:rPr>
              <a:t>ПРОЕКТ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78608" y="1261872"/>
            <a:ext cx="1207008" cy="310896"/>
          </a:xfrm>
          <a:prstGeom prst="roundRect">
            <a:avLst>
              <a:gd name="adj" fmla="val 50000"/>
            </a:avLst>
          </a:prstGeom>
          <a:solidFill>
            <a:srgbClr val="EDF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78608" y="1316736"/>
            <a:ext cx="12070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3A2A21"/>
                </a:solidFill>
                <a:latin typeface="Segoe UI"/>
              </a:rPr>
              <a:t>ВАРИАНТ 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828800"/>
            <a:ext cx="7315200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 i="0">
                <a:solidFill>
                  <a:srgbClr val="3A2A21"/>
                </a:solidFill>
                <a:latin typeface="Segoe UI"/>
              </a:rPr>
              <a:t>Разработка информационной системы для учёта брака с целью прогнозирования закупок качественного товара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4370832"/>
            <a:ext cx="3246120" cy="41148"/>
          </a:xfrm>
          <a:prstGeom prst="rect">
            <a:avLst/>
          </a:prstGeom>
          <a:solidFill>
            <a:srgbClr val="E3D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455371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8A7666"/>
                </a:solidFill>
                <a:latin typeface="Segoe UI"/>
              </a:rPr>
              <a:t>Подготовил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791456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A2A21"/>
                </a:solidFill>
                <a:latin typeface="Segoe UI"/>
              </a:rPr>
              <a:t>студент группы ИС1-45  Усиков А.В.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23036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8A7666"/>
                </a:solidFill>
                <a:latin typeface="Segoe UI"/>
              </a:rPr>
              <a:t>Руководитель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468112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A2A21"/>
                </a:solidFill>
                <a:latin typeface="Segoe UI"/>
              </a:rPr>
              <a:t>Панасюк А.Д.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14476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F4E37"/>
                </a:solidFill>
                <a:latin typeface="Segoe UI"/>
              </a:rPr>
              <a:t>Ярославль · 2026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1783080"/>
            <a:ext cx="3401568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21624" y="1947672"/>
            <a:ext cx="3108960" cy="292608"/>
          </a:xfrm>
          <a:prstGeom prst="roundRect">
            <a:avLst/>
          </a:prstGeom>
          <a:solidFill>
            <a:srgbClr val="3A2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9640" y="1997964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5EFE2"/>
                </a:solidFill>
                <a:latin typeface="Segoe UI"/>
              </a:rPr>
              <a:t>ИС «Учёт брака»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21624" y="2359152"/>
            <a:ext cx="1481328" cy="658368"/>
          </a:xfrm>
          <a:prstGeom prst="roundRect">
            <a:avLst>
              <a:gd name="adj" fmla="val 10000"/>
            </a:avLst>
          </a:prstGeom>
          <a:solidFill>
            <a:srgbClr val="EDF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0496" y="2441448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6F4E37"/>
                </a:solidFill>
                <a:latin typeface="Segoe UI"/>
              </a:rPr>
              <a:t>Доля брака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0496" y="26517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A2A21"/>
                </a:solidFill>
                <a:latin typeface="Segoe UI"/>
              </a:rPr>
              <a:t>4,8 %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30968" y="2359152"/>
            <a:ext cx="1481328" cy="658368"/>
          </a:xfrm>
          <a:prstGeom prst="roundRect">
            <a:avLst>
              <a:gd name="adj" fmla="val 10000"/>
            </a:avLst>
          </a:prstGeom>
          <a:solidFill>
            <a:srgbClr val="EDF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40" y="2441448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6F4E37"/>
                </a:solidFill>
                <a:latin typeface="Segoe UI"/>
              </a:rPr>
              <a:t>Партий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26517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A2A21"/>
                </a:solidFill>
                <a:latin typeface="Segoe UI"/>
              </a:rPr>
              <a:t>18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76488" y="4544568"/>
            <a:ext cx="2999232" cy="12801"/>
          </a:xfrm>
          <a:prstGeom prst="rect">
            <a:avLst/>
          </a:prstGeom>
          <a:solidFill>
            <a:srgbClr val="E3D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76488" y="4160520"/>
            <a:ext cx="272657" cy="384048"/>
          </a:xfrm>
          <a:prstGeom prst="rect">
            <a:avLst/>
          </a:prstGeom>
          <a:solidFill>
            <a:srgbClr val="C6D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51392" y="3941063"/>
            <a:ext cx="272657" cy="603504"/>
          </a:xfrm>
          <a:prstGeom prst="rect">
            <a:avLst/>
          </a:prstGeom>
          <a:solidFill>
            <a:srgbClr val="C6D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226296" y="4261104"/>
            <a:ext cx="272657" cy="283464"/>
          </a:xfrm>
          <a:prstGeom prst="rect">
            <a:avLst/>
          </a:prstGeom>
          <a:solidFill>
            <a:srgbClr val="C6D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01200" y="3758183"/>
            <a:ext cx="272657" cy="786384"/>
          </a:xfrm>
          <a:prstGeom prst="rect">
            <a:avLst/>
          </a:prstGeom>
          <a:solidFill>
            <a:srgbClr val="3A2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76104" y="4041648"/>
            <a:ext cx="272657" cy="502920"/>
          </a:xfrm>
          <a:prstGeom prst="rect">
            <a:avLst/>
          </a:prstGeom>
          <a:solidFill>
            <a:srgbClr val="C6D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351008" y="3886200"/>
            <a:ext cx="272657" cy="658368"/>
          </a:xfrm>
          <a:prstGeom prst="rect">
            <a:avLst/>
          </a:prstGeom>
          <a:solidFill>
            <a:srgbClr val="C6D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725912" y="4197096"/>
            <a:ext cx="272657" cy="347472"/>
          </a:xfrm>
          <a:prstGeom prst="rect">
            <a:avLst/>
          </a:prstGeom>
          <a:solidFill>
            <a:srgbClr val="C6D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58200" y="315468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8A7666"/>
                </a:solidFill>
                <a:latin typeface="Segoe UI"/>
              </a:rPr>
              <a:t>Динамика брака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A8BB2E"/>
                </a:solidFill>
                <a:latin typeface="Segoe UI"/>
              </a:rPr>
              <a:t>ЦЕЛЬ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3A2A21"/>
                </a:solidFill>
                <a:latin typeface="Segoe UI"/>
              </a:rPr>
              <a:t>Цель работы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868680" cy="68580"/>
          </a:xfrm>
          <a:prstGeom prst="rect">
            <a:avLst/>
          </a:prstGeom>
          <a:solidFill>
            <a:srgbClr val="C6D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536192"/>
            <a:ext cx="11064240" cy="1572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37360"/>
            <a:ext cx="82296" cy="1170432"/>
          </a:xfrm>
          <a:prstGeom prst="rect">
            <a:avLst/>
          </a:prstGeom>
          <a:solidFill>
            <a:srgbClr val="C6D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09928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A8BB2E"/>
                </a:solidFill>
                <a:latin typeface="Segoe UI"/>
              </a:rPr>
              <a:t>ЦЕЛЬ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75104"/>
            <a:ext cx="10332720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750" b="1" i="0">
                <a:solidFill>
                  <a:srgbClr val="3A2A21"/>
                </a:solidFill>
                <a:latin typeface="Segoe UI"/>
              </a:rPr>
              <a:t>Разработка информационной системы для учёта брака, обеспечивающей прогнозирование закупок качественных материалов на основе анализа поставщиков и статистики брака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328416"/>
            <a:ext cx="5394960" cy="2743200"/>
          </a:xfrm>
          <a:prstGeom prst="roundRect">
            <a:avLst>
              <a:gd name="adj" fmla="val 6000"/>
            </a:avLst>
          </a:prstGeom>
          <a:solidFill>
            <a:srgbClr val="EDF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50215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F4E37"/>
                </a:solidFill>
                <a:latin typeface="Segoe UI"/>
              </a:rPr>
              <a:t>АКТУАЛЬНОСТЬ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803904"/>
            <a:ext cx="4800600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 i="0">
                <a:solidFill>
                  <a:srgbClr val="3A2A21"/>
                </a:solidFill>
                <a:latin typeface="Segoe UI"/>
              </a:rPr>
              <a:t>Ручной учёт брака трудоёмок и не даёт оперативной картины: доля брака напрямую влияет на себестоимость, сроки заказов и репутацию предприятия. Автоматизация сбора данных и расчёт вероятности брака по поставщикам повышают достоверность решений о закупках.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3328416"/>
            <a:ext cx="539496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350215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F4E37"/>
                </a:solidFill>
                <a:latin typeface="Segoe UI"/>
              </a:rPr>
              <a:t>ПРАКТИЧЕСКАЯ ЗНАЧИМОСТЬ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8816" y="3803904"/>
            <a:ext cx="4800600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 i="0">
                <a:solidFill>
                  <a:srgbClr val="3A2A21"/>
                </a:solidFill>
                <a:latin typeface="Segoe UI"/>
              </a:rPr>
              <a:t>Готовый программный продукт позволяет снизить затраты на брак, повысить качество закупаемых материалов и оптимизировать работу с поставщиками за счёт объективной статистики и прогноза качества будущих поставок.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9224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7666"/>
                </a:solidFill>
                <a:latin typeface="Segoe UI"/>
              </a:rPr>
              <a:t>УП03 · Вариант 24 · Усиков А.В.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92240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6F4E37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A8BB2E"/>
                </a:solidFill>
                <a:latin typeface="Segoe UI"/>
              </a:rPr>
              <a:t>ЗАДАЧИ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3A2A21"/>
                </a:solidFill>
                <a:latin typeface="Segoe UI"/>
              </a:rPr>
              <a:t>Задачи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868680" cy="68580"/>
          </a:xfrm>
          <a:prstGeom prst="rect">
            <a:avLst/>
          </a:prstGeom>
          <a:solidFill>
            <a:srgbClr val="C6D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5372100" cy="12801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1911095"/>
            <a:ext cx="566928" cy="566928"/>
          </a:xfrm>
          <a:prstGeom prst="ellipse">
            <a:avLst/>
          </a:prstGeom>
          <a:solidFill>
            <a:srgbClr val="EDF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3A2A21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837943"/>
            <a:ext cx="41376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3A2A21"/>
                </a:solidFill>
                <a:latin typeface="Segoe UI"/>
              </a:rPr>
              <a:t>Проанализировать предметную область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76272"/>
            <a:ext cx="41376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8A7666"/>
                </a:solidFill>
                <a:latin typeface="Segoe UI"/>
              </a:rPr>
              <a:t>и сформулировать требования к системе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9068" y="1554480"/>
            <a:ext cx="5372100" cy="12801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15100" y="1911095"/>
            <a:ext cx="566928" cy="566928"/>
          </a:xfrm>
          <a:prstGeom prst="ellipse">
            <a:avLst/>
          </a:prstGeom>
          <a:solidFill>
            <a:srgbClr val="EDF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3A2A21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46620" y="1837943"/>
            <a:ext cx="41376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3A2A21"/>
                </a:solidFill>
                <a:latin typeface="Segoe UI"/>
              </a:rPr>
              <a:t>Спроектировать базу данных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46620" y="2176272"/>
            <a:ext cx="41376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8A7666"/>
                </a:solidFill>
                <a:latin typeface="Segoe UI"/>
              </a:rPr>
              <a:t>8 таблиц: поставщики, материалы, партии, брак, списание, заявки, роли, пользователи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108960"/>
            <a:ext cx="5372100" cy="12801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3465576"/>
            <a:ext cx="566928" cy="566928"/>
          </a:xfrm>
          <a:prstGeom prst="ellipse">
            <a:avLst/>
          </a:prstGeom>
          <a:solidFill>
            <a:srgbClr val="EDF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3A2A21"/>
                </a:solidFill>
                <a:latin typeface="Sego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392424"/>
            <a:ext cx="41376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3A2A21"/>
                </a:solidFill>
                <a:latin typeface="Segoe UI"/>
              </a:rPr>
              <a:t>Реализовать расчёт вероятности брака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730752"/>
            <a:ext cx="41376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8A7666"/>
                </a:solidFill>
                <a:latin typeface="Segoe UI"/>
              </a:rPr>
              <a:t>по каждому поставщику на основе истории поставок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59068" y="3108960"/>
            <a:ext cx="5372100" cy="12801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15100" y="3465576"/>
            <a:ext cx="566928" cy="566928"/>
          </a:xfrm>
          <a:prstGeom prst="ellipse">
            <a:avLst/>
          </a:prstGeom>
          <a:solidFill>
            <a:srgbClr val="EDF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3A2A21"/>
                </a:solidFill>
                <a:latin typeface="Sego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46620" y="3392424"/>
            <a:ext cx="41376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3A2A21"/>
                </a:solidFill>
                <a:latin typeface="Segoe UI"/>
              </a:rPr>
              <a:t>Разработать модуль прогнозирования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6620" y="3730752"/>
            <a:ext cx="41376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8A7666"/>
                </a:solidFill>
                <a:latin typeface="Segoe UI"/>
              </a:rPr>
              <a:t>закупок методом линии тренда с визуализацией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663440"/>
            <a:ext cx="5372100" cy="12801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960" y="5020055"/>
            <a:ext cx="566928" cy="566928"/>
          </a:xfrm>
          <a:prstGeom prst="ellipse">
            <a:avLst/>
          </a:prstGeom>
          <a:solidFill>
            <a:srgbClr val="EDF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3A2A21"/>
                </a:solidFill>
                <a:latin typeface="Segoe U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946903"/>
            <a:ext cx="41376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3A2A21"/>
                </a:solidFill>
                <a:latin typeface="Segoe UI"/>
              </a:rPr>
              <a:t>Обеспечить ролевое разграничение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285231"/>
            <a:ext cx="41376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8A7666"/>
                </a:solidFill>
                <a:latin typeface="Segoe UI"/>
              </a:rPr>
              <a:t>доступа: администратор, менеджер, производство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59068" y="4663440"/>
            <a:ext cx="5372100" cy="12801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15100" y="5020055"/>
            <a:ext cx="566928" cy="566928"/>
          </a:xfrm>
          <a:prstGeom prst="ellipse">
            <a:avLst/>
          </a:prstGeom>
          <a:solidFill>
            <a:srgbClr val="EDF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3A2A21"/>
                </a:solidFill>
                <a:latin typeface="Segoe U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46620" y="4946903"/>
            <a:ext cx="41376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3A2A21"/>
                </a:solidFill>
                <a:latin typeface="Segoe UI"/>
              </a:rPr>
              <a:t>Сформировать отчётные формы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46620" y="5285231"/>
            <a:ext cx="41376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8A7666"/>
                </a:solidFill>
                <a:latin typeface="Segoe UI"/>
              </a:rPr>
              <a:t>по браку, качеству товаров и инвентаризации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49224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7666"/>
                </a:solidFill>
                <a:latin typeface="Segoe UI"/>
              </a:rPr>
              <a:t>УП03 · Вариант 24 · Усиков А.В.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92240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6F4E37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A8BB2E"/>
                </a:solidFill>
                <a:latin typeface="Segoe UI"/>
              </a:rPr>
              <a:t>АНАЛИЗ АНАЛОГОВ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3A2A21"/>
                </a:solidFill>
                <a:latin typeface="Segoe UI"/>
              </a:rPr>
              <a:t>Аналоги и прототипы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868680" cy="68580"/>
          </a:xfrm>
          <a:prstGeom prst="rect">
            <a:avLst/>
          </a:prstGeom>
          <a:solidFill>
            <a:srgbClr val="C6D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2594610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773936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EDF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300">
                <a:solidFill>
                  <a:srgbClr val="3A2A21"/>
                </a:solidFill>
                <a:latin typeface="Segoe UI"/>
              </a:rPr>
              <a:t>1С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42032"/>
            <a:ext cx="208254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3A2A21"/>
                </a:solidFill>
                <a:latin typeface="Segoe UI"/>
              </a:rPr>
              <a:t>1С:УНФ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52928"/>
            <a:ext cx="208254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A7666"/>
                </a:solidFill>
                <a:latin typeface="Segoe UI"/>
              </a:rPr>
              <a:t>Учёт товаров, закупок и склада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529584"/>
            <a:ext cx="2082545" cy="18288"/>
          </a:xfrm>
          <a:prstGeom prst="rect">
            <a:avLst/>
          </a:prstGeom>
          <a:solidFill>
            <a:srgbClr val="E3D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657600"/>
            <a:ext cx="208254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A2A21"/>
                </a:solidFill>
                <a:latin typeface="Segoe UI"/>
              </a:rPr>
              <a:t>＋  широкий функционал, отчётность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343400"/>
            <a:ext cx="2082545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F4E37"/>
                </a:solidFill>
                <a:latin typeface="Segoe UI"/>
              </a:rPr>
              <a:t>−  сложное внедрение, цена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138" y="1554480"/>
            <a:ext cx="2594610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46170" y="1773936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EDF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300">
                <a:solidFill>
                  <a:srgbClr val="3A2A21"/>
                </a:solidFill>
                <a:latin typeface="Segoe UI"/>
              </a:rPr>
              <a:t>МС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6170" y="2542032"/>
            <a:ext cx="208254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3A2A21"/>
                </a:solidFill>
                <a:latin typeface="Segoe UI"/>
              </a:rPr>
              <a:t>МойСклад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6170" y="2852928"/>
            <a:ext cx="208254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A7666"/>
                </a:solidFill>
                <a:latin typeface="Segoe UI"/>
              </a:rPr>
              <a:t>Облачный учёт товаров и заказов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46170" y="3529584"/>
            <a:ext cx="2082545" cy="18288"/>
          </a:xfrm>
          <a:prstGeom prst="rect">
            <a:avLst/>
          </a:prstGeom>
          <a:solidFill>
            <a:srgbClr val="E3D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46170" y="3657600"/>
            <a:ext cx="208254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A2A21"/>
                </a:solidFill>
                <a:latin typeface="Segoe UI"/>
              </a:rPr>
              <a:t>＋  работа в браузере, интеграции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46170" y="4343400"/>
            <a:ext cx="2082545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F4E37"/>
                </a:solidFill>
                <a:latin typeface="Segoe UI"/>
              </a:rPr>
              <a:t>−  ограниченная гибкость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3348" y="1554480"/>
            <a:ext cx="2594610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69380" y="1773936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EDF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300">
                <a:solidFill>
                  <a:srgbClr val="3A2A21"/>
                </a:solidFill>
                <a:latin typeface="Segoe UI"/>
              </a:rPr>
              <a:t>КМ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9380" y="2542032"/>
            <a:ext cx="208254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3A2A21"/>
                </a:solidFill>
                <a:latin typeface="Segoe UI"/>
              </a:rPr>
              <a:t>Контур.Маркет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9380" y="2852928"/>
            <a:ext cx="208254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A7666"/>
                </a:solidFill>
                <a:latin typeface="Segoe UI"/>
              </a:rPr>
              <a:t>Учёт товаров, цен и остатков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69380" y="3529584"/>
            <a:ext cx="2082545" cy="18288"/>
          </a:xfrm>
          <a:prstGeom prst="rect">
            <a:avLst/>
          </a:prstGeom>
          <a:solidFill>
            <a:srgbClr val="E3D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9380" y="3657600"/>
            <a:ext cx="208254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A2A21"/>
                </a:solidFill>
                <a:latin typeface="Segoe UI"/>
              </a:rPr>
              <a:t>＋  удобный интерфейс, облако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9380" y="4343400"/>
            <a:ext cx="2082545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F4E37"/>
                </a:solidFill>
                <a:latin typeface="Segoe UI"/>
              </a:rPr>
              <a:t>−  не покрывает производство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36557" y="1554480"/>
            <a:ext cx="2594610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292589" y="1773936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EDF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300">
                <a:solidFill>
                  <a:srgbClr val="3A2A21"/>
                </a:solidFill>
                <a:latin typeface="Segoe UI"/>
              </a:rPr>
              <a:t>SAP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92589" y="2542032"/>
            <a:ext cx="208254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3A2A21"/>
                </a:solidFill>
                <a:latin typeface="Segoe UI"/>
              </a:rPr>
              <a:t>SAP ERP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92589" y="2852928"/>
            <a:ext cx="208254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A7666"/>
                </a:solidFill>
                <a:latin typeface="Segoe UI"/>
              </a:rPr>
              <a:t>Корпоративные закупки и производство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92589" y="3529584"/>
            <a:ext cx="2082545" cy="18288"/>
          </a:xfrm>
          <a:prstGeom prst="rect">
            <a:avLst/>
          </a:prstGeom>
          <a:solidFill>
            <a:srgbClr val="E3D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92589" y="3657600"/>
            <a:ext cx="208254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A2A21"/>
                </a:solidFill>
                <a:latin typeface="Segoe UI"/>
              </a:rPr>
              <a:t>＋  масштабируемость, мощность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92589" y="4343400"/>
            <a:ext cx="2082545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F4E37"/>
                </a:solidFill>
                <a:latin typeface="Segoe UI"/>
              </a:rPr>
              <a:t>−  высокая стоимость, сложность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184648"/>
            <a:ext cx="11064240" cy="786384"/>
          </a:xfrm>
          <a:prstGeom prst="roundRect">
            <a:avLst>
              <a:gd name="adj" fmla="val 9000"/>
            </a:avLst>
          </a:prstGeom>
          <a:solidFill>
            <a:srgbClr val="3A2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5184648"/>
            <a:ext cx="1051560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F5EFE2"/>
                </a:solidFill>
                <a:latin typeface="Segoe UI"/>
              </a:rPr>
              <a:t>Вывод: аналоги не связывают учёт брака с прогнозированием качества закупок — эта функция реализована в разрабатываемой системе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49224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7666"/>
                </a:solidFill>
                <a:latin typeface="Segoe UI"/>
              </a:rPr>
              <a:t>УП03 · Вариант 24 · Усиков А.В.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92240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6F4E37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A8BB2E"/>
                </a:solidFill>
                <a:latin typeface="Segoe UI"/>
              </a:rPr>
              <a:t>ПРОЕКТИРОВАНИЕ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3A2A21"/>
                </a:solidFill>
                <a:latin typeface="Segoe UI"/>
              </a:rPr>
              <a:t>Схема данных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868680" cy="68580"/>
          </a:xfrm>
          <a:prstGeom prst="rect">
            <a:avLst/>
          </a:prstGeom>
          <a:solidFill>
            <a:srgbClr val="C6D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ta_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36192"/>
            <a:ext cx="7092175" cy="48463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41080" y="1536192"/>
            <a:ext cx="2990088" cy="13350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87968" y="1536192"/>
            <a:ext cx="914400" cy="1335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A8BB2E"/>
                </a:solidFill>
                <a:latin typeface="Segoe U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1536192"/>
            <a:ext cx="1874519" cy="1335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A2A21"/>
                </a:solidFill>
                <a:latin typeface="Segoe UI"/>
              </a:rPr>
              <a:t>таблиц в базе данных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41080" y="3054096"/>
            <a:ext cx="2990088" cy="13350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87968" y="3054096"/>
            <a:ext cx="914400" cy="1335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A8BB2E"/>
                </a:solidFill>
                <a:latin typeface="Segoe UI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46920" y="3054096"/>
            <a:ext cx="1874519" cy="1335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A2A21"/>
                </a:solidFill>
                <a:latin typeface="Segoe UI"/>
              </a:rPr>
              <a:t>связей типа 1:M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41080" y="4572000"/>
            <a:ext cx="2990088" cy="13350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87968" y="4572000"/>
            <a:ext cx="914400" cy="1335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A8BB2E"/>
                </a:solidFill>
                <a:latin typeface="Segoe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46920" y="4572000"/>
            <a:ext cx="1874519" cy="1335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A2A21"/>
                </a:solidFill>
                <a:latin typeface="Segoe UI"/>
              </a:rPr>
              <a:t>роли пользователей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9224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7666"/>
                </a:solidFill>
                <a:latin typeface="Segoe UI"/>
              </a:rPr>
              <a:t>УП03 · Вариант 24 · Усиков А.В.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92240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6F4E37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A8BB2E"/>
                </a:solidFill>
                <a:latin typeface="Segoe UI"/>
              </a:rPr>
              <a:t>РОЛЕВАЯ МОДЕЛЬ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3A2A21"/>
                </a:solidFill>
                <a:latin typeface="Segoe UI"/>
              </a:rPr>
              <a:t>Виды пользователей и их возможности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868680" cy="68580"/>
          </a:xfrm>
          <a:prstGeom prst="rect">
            <a:avLst/>
          </a:prstGeom>
          <a:solidFill>
            <a:srgbClr val="C6D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3566160" cy="3456432"/>
          </a:xfrm>
          <a:prstGeom prst="roundRect">
            <a:avLst>
              <a:gd name="adj" fmla="val 6000"/>
            </a:avLst>
          </a:prstGeom>
          <a:solidFill>
            <a:srgbClr val="EDF3C9"/>
          </a:solidFill>
          <a:ln w="12700">
            <a:solidFill>
              <a:srgbClr val="E3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7" y="1783080"/>
            <a:ext cx="713232" cy="713232"/>
          </a:xfrm>
          <a:prstGeom prst="ellipse">
            <a:avLst/>
          </a:prstGeom>
          <a:solidFill>
            <a:srgbClr val="C6D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000">
                <a:solidFill>
                  <a:srgbClr val="3A2A21"/>
                </a:solidFill>
                <a:latin typeface="Segoe UI"/>
              </a:rPr>
              <a:t>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09928" y="1847088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A2A21"/>
                </a:solidFill>
                <a:latin typeface="Segoe UI"/>
              </a:rPr>
              <a:t>Администратор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9928" y="216712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F4E37"/>
                </a:solidFill>
                <a:latin typeface="Segoe UI"/>
              </a:rPr>
              <a:t>логин: 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724912"/>
            <a:ext cx="301752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200" b="1">
                <a:solidFill>
                  <a:srgbClr val="A8BB2E"/>
                </a:solidFill>
                <a:latin typeface="Segoe UI"/>
              </a:rPr>
              <a:t>·  </a:t>
            </a:r>
            <a:r>
              <a:rPr sz="1200">
                <a:solidFill>
                  <a:srgbClr val="3A2A21"/>
                </a:solidFill>
                <a:latin typeface="Segoe UI"/>
              </a:rPr>
              <a:t>полный доступ ко всем разделам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200" b="1">
                <a:solidFill>
                  <a:srgbClr val="A8BB2E"/>
                </a:solidFill>
                <a:latin typeface="Segoe UI"/>
              </a:rPr>
              <a:t>·  </a:t>
            </a:r>
            <a:r>
              <a:rPr sz="1200">
                <a:solidFill>
                  <a:srgbClr val="3A2A21"/>
                </a:solidFill>
                <a:latin typeface="Segoe UI"/>
              </a:rPr>
              <a:t>пользователи, роли и права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200" b="1">
                <a:solidFill>
                  <a:srgbClr val="A8BB2E"/>
                </a:solidFill>
                <a:latin typeface="Segoe UI"/>
              </a:rPr>
              <a:t>·  </a:t>
            </a:r>
            <a:r>
              <a:rPr sz="1200">
                <a:solidFill>
                  <a:srgbClr val="3A2A21"/>
                </a:solidFill>
                <a:latin typeface="Segoe UI"/>
              </a:rPr>
              <a:t>справочники поставщиков и материалов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200" b="1">
                <a:solidFill>
                  <a:srgbClr val="A8BB2E"/>
                </a:solidFill>
                <a:latin typeface="Segoe UI"/>
              </a:rPr>
              <a:t>·  </a:t>
            </a:r>
            <a:r>
              <a:rPr sz="1200">
                <a:solidFill>
                  <a:srgbClr val="3A2A21"/>
                </a:solidFill>
                <a:latin typeface="Segoe UI"/>
              </a:rPr>
              <a:t>удаление и блокировка записей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200" b="1">
                <a:solidFill>
                  <a:srgbClr val="A8BB2E"/>
                </a:solidFill>
                <a:latin typeface="Segoe UI"/>
              </a:rPr>
              <a:t>·  </a:t>
            </a:r>
            <a:r>
              <a:rPr sz="1200">
                <a:solidFill>
                  <a:srgbClr val="3A2A21"/>
                </a:solidFill>
                <a:latin typeface="Segoe UI"/>
              </a:rPr>
              <a:t>все отчёты и настройки системы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554480"/>
            <a:ext cx="3566160" cy="3456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90288" y="1783080"/>
            <a:ext cx="713232" cy="713232"/>
          </a:xfrm>
          <a:prstGeom prst="ellipse">
            <a:avLst/>
          </a:prstGeom>
          <a:solidFill>
            <a:srgbClr val="EDF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000">
                <a:solidFill>
                  <a:srgbClr val="3A2A21"/>
                </a:solidFill>
                <a:latin typeface="Segoe UI"/>
              </a:rPr>
              <a:t>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58968" y="1847088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A2A21"/>
                </a:solidFill>
                <a:latin typeface="Segoe UI"/>
              </a:rPr>
              <a:t>Менеджер по закупкам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58968" y="216712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F4E37"/>
                </a:solidFill>
                <a:latin typeface="Segoe UI"/>
              </a:rPr>
              <a:t>логин: manager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724912"/>
            <a:ext cx="301752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200" b="1">
                <a:solidFill>
                  <a:srgbClr val="A8BB2E"/>
                </a:solidFill>
                <a:latin typeface="Segoe UI"/>
              </a:rPr>
              <a:t>·  </a:t>
            </a:r>
            <a:r>
              <a:rPr sz="1200">
                <a:solidFill>
                  <a:srgbClr val="3A2A21"/>
                </a:solidFill>
                <a:latin typeface="Segoe UI"/>
              </a:rPr>
              <a:t>поставщики и материалы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200" b="1">
                <a:solidFill>
                  <a:srgbClr val="A8BB2E"/>
                </a:solidFill>
                <a:latin typeface="Segoe UI"/>
              </a:rPr>
              <a:t>·  </a:t>
            </a:r>
            <a:r>
              <a:rPr sz="1200">
                <a:solidFill>
                  <a:srgbClr val="3A2A21"/>
                </a:solidFill>
                <a:latin typeface="Segoe UI"/>
              </a:rPr>
              <a:t>партии поступления и накладные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200" b="1">
                <a:solidFill>
                  <a:srgbClr val="A8BB2E"/>
                </a:solidFill>
                <a:latin typeface="Segoe UI"/>
              </a:rPr>
              <a:t>·  </a:t>
            </a:r>
            <a:r>
              <a:rPr sz="1200">
                <a:solidFill>
                  <a:srgbClr val="3A2A21"/>
                </a:solidFill>
                <a:latin typeface="Segoe UI"/>
              </a:rPr>
              <a:t>прогноз качества и аналитика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200" b="1">
                <a:solidFill>
                  <a:srgbClr val="A8BB2E"/>
                </a:solidFill>
                <a:latin typeface="Segoe UI"/>
              </a:rPr>
              <a:t>·  </a:t>
            </a:r>
            <a:r>
              <a:rPr sz="1200">
                <a:solidFill>
                  <a:srgbClr val="3A2A21"/>
                </a:solidFill>
                <a:latin typeface="Segoe UI"/>
              </a:rPr>
              <a:t>заявки на закупку материалов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200" b="1">
                <a:solidFill>
                  <a:srgbClr val="A8BB2E"/>
                </a:solidFill>
                <a:latin typeface="Segoe UI"/>
              </a:rPr>
              <a:t>·  </a:t>
            </a:r>
            <a:r>
              <a:rPr sz="1200">
                <a:solidFill>
                  <a:srgbClr val="3A2A21"/>
                </a:solidFill>
                <a:latin typeface="Segoe UI"/>
              </a:rPr>
              <a:t>отчёты по браку и качеству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7" y="1554480"/>
            <a:ext cx="3566160" cy="3456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39327" y="1783080"/>
            <a:ext cx="713232" cy="713232"/>
          </a:xfrm>
          <a:prstGeom prst="ellipse">
            <a:avLst/>
          </a:prstGeom>
          <a:solidFill>
            <a:srgbClr val="EDF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000">
                <a:solidFill>
                  <a:srgbClr val="3A2A21"/>
                </a:solidFill>
                <a:latin typeface="Segoe UI"/>
              </a:rPr>
              <a:t>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08007" y="1847088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A2A21"/>
                </a:solidFill>
                <a:latin typeface="Segoe UI"/>
              </a:rPr>
              <a:t>Производство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08007" y="216712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F4E37"/>
                </a:solidFill>
                <a:latin typeface="Segoe UI"/>
              </a:rPr>
              <a:t>логин: proizvod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2724912"/>
            <a:ext cx="301752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200" b="1">
                <a:solidFill>
                  <a:srgbClr val="A8BB2E"/>
                </a:solidFill>
                <a:latin typeface="Segoe UI"/>
              </a:rPr>
              <a:t>·  </a:t>
            </a:r>
            <a:r>
              <a:rPr sz="1200">
                <a:solidFill>
                  <a:srgbClr val="3A2A21"/>
                </a:solidFill>
                <a:latin typeface="Segoe UI"/>
              </a:rPr>
              <a:t>регистрация фактов брака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200" b="1">
                <a:solidFill>
                  <a:srgbClr val="A8BB2E"/>
                </a:solidFill>
                <a:latin typeface="Segoe UI"/>
              </a:rPr>
              <a:t>·  </a:t>
            </a:r>
            <a:r>
              <a:rPr sz="1200">
                <a:solidFill>
                  <a:srgbClr val="3A2A21"/>
                </a:solidFill>
                <a:latin typeface="Segoe UI"/>
              </a:rPr>
              <a:t>списание бракованных материалов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200" b="1">
                <a:solidFill>
                  <a:srgbClr val="A8BB2E"/>
                </a:solidFill>
                <a:latin typeface="Segoe UI"/>
              </a:rPr>
              <a:t>·  </a:t>
            </a:r>
            <a:r>
              <a:rPr sz="1200">
                <a:solidFill>
                  <a:srgbClr val="3A2A21"/>
                </a:solidFill>
                <a:latin typeface="Segoe UI"/>
              </a:rPr>
              <a:t>заявки на материалы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200" b="1">
                <a:solidFill>
                  <a:srgbClr val="A8BB2E"/>
                </a:solidFill>
                <a:latin typeface="Segoe UI"/>
              </a:rPr>
              <a:t>·  </a:t>
            </a:r>
            <a:r>
              <a:rPr sz="1200">
                <a:solidFill>
                  <a:srgbClr val="3A2A21"/>
                </a:solidFill>
                <a:latin typeface="Segoe UI"/>
              </a:rPr>
              <a:t>контроль статуса брака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200" b="1">
                <a:solidFill>
                  <a:srgbClr val="A8BB2E"/>
                </a:solidFill>
                <a:latin typeface="Segoe UI"/>
              </a:rPr>
              <a:t>·  </a:t>
            </a:r>
            <a:r>
              <a:rPr sz="1200">
                <a:solidFill>
                  <a:srgbClr val="3A2A21"/>
                </a:solidFill>
                <a:latin typeface="Segoe UI"/>
              </a:rPr>
              <a:t>просмотр своих записей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93792"/>
            <a:ext cx="11064240" cy="621792"/>
          </a:xfrm>
          <a:prstGeom prst="roundRect">
            <a:avLst>
              <a:gd name="adj" fmla="val 12000"/>
            </a:avLst>
          </a:prstGeom>
          <a:solidFill>
            <a:srgbClr val="EDF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5193792"/>
            <a:ext cx="106070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A2A21"/>
                </a:solidFill>
                <a:latin typeface="Segoe UI"/>
              </a:rPr>
              <a:t>Вход по логину и паролю · права проверяются при открытии каждого раздела · неверные данные не раскрывают состав системы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9224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7666"/>
                </a:solidFill>
                <a:latin typeface="Segoe UI"/>
              </a:rPr>
              <a:t>УП03 · Вариант 24 · Усиков А.В.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92240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6F4E37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A8BB2E"/>
                </a:solidFill>
                <a:latin typeface="Segoe UI"/>
              </a:rPr>
              <a:t>РЕАЛИЗАЦИЯ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3A2A21"/>
                </a:solidFill>
                <a:latin typeface="Segoe UI"/>
              </a:rPr>
              <a:t>Используемые технологии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868680" cy="68580"/>
          </a:xfrm>
          <a:prstGeom prst="rect">
            <a:avLst/>
          </a:prstGeom>
          <a:solidFill>
            <a:srgbClr val="C6D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2574036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86384" y="1792224"/>
            <a:ext cx="310896" cy="45720"/>
          </a:xfrm>
          <a:prstGeom prst="rect">
            <a:avLst/>
          </a:prstGeom>
          <a:solidFill>
            <a:srgbClr val="C6D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938528"/>
            <a:ext cx="2135124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A2A21"/>
                </a:solidFill>
                <a:latin typeface="Segoe UI"/>
              </a:rPr>
              <a:t>C#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77440"/>
            <a:ext cx="21351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7666"/>
                </a:solidFill>
                <a:latin typeface="Segoe UI"/>
              </a:rPr>
              <a:t>язык разработки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6996" y="1572768"/>
            <a:ext cx="2574036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16452" y="1792224"/>
            <a:ext cx="310896" cy="45720"/>
          </a:xfrm>
          <a:prstGeom prst="rect">
            <a:avLst/>
          </a:prstGeom>
          <a:solidFill>
            <a:srgbClr val="C6D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6452" y="1938528"/>
            <a:ext cx="2135124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A2A21"/>
                </a:solidFill>
                <a:latin typeface="Segoe UI"/>
              </a:rPr>
              <a:t>WPF + XAML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6452" y="2377440"/>
            <a:ext cx="21351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7666"/>
                </a:solidFill>
                <a:latin typeface="Segoe UI"/>
              </a:rPr>
              <a:t>интерфейс приложения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1572768"/>
            <a:ext cx="2574036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46520" y="1792224"/>
            <a:ext cx="310896" cy="45720"/>
          </a:xfrm>
          <a:prstGeom prst="rect">
            <a:avLst/>
          </a:prstGeom>
          <a:solidFill>
            <a:srgbClr val="C6D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38528"/>
            <a:ext cx="2135124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A2A21"/>
                </a:solidFill>
                <a:latin typeface="Segoe UI"/>
              </a:rPr>
              <a:t>.NET Framework 4.7.2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77440"/>
            <a:ext cx="21351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7666"/>
                </a:solidFill>
                <a:latin typeface="Segoe UI"/>
              </a:rPr>
              <a:t>платформа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7132" y="1572768"/>
            <a:ext cx="2574036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76588" y="1792224"/>
            <a:ext cx="310896" cy="45720"/>
          </a:xfrm>
          <a:prstGeom prst="rect">
            <a:avLst/>
          </a:prstGeom>
          <a:solidFill>
            <a:srgbClr val="C6D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76588" y="1938528"/>
            <a:ext cx="2135124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A2A21"/>
                </a:solidFill>
                <a:latin typeface="Segoe UI"/>
              </a:rPr>
              <a:t>ADO.NET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76588" y="2377440"/>
            <a:ext cx="21351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7666"/>
                </a:solidFill>
                <a:latin typeface="Segoe UI"/>
              </a:rPr>
              <a:t>доступ к данным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145536"/>
            <a:ext cx="2574036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6384" y="3364991"/>
            <a:ext cx="310896" cy="45720"/>
          </a:xfrm>
          <a:prstGeom prst="rect">
            <a:avLst/>
          </a:prstGeom>
          <a:solidFill>
            <a:srgbClr val="C6D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3511296"/>
            <a:ext cx="2135124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A2A21"/>
                </a:solidFill>
                <a:latin typeface="Segoe UI"/>
              </a:rPr>
              <a:t>MS SQL Server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" y="3950208"/>
            <a:ext cx="21351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7666"/>
                </a:solidFill>
                <a:latin typeface="Segoe UI"/>
              </a:rPr>
              <a:t>хранение данных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96996" y="3145536"/>
            <a:ext cx="2574036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16452" y="3364991"/>
            <a:ext cx="310896" cy="45720"/>
          </a:xfrm>
          <a:prstGeom prst="rect">
            <a:avLst/>
          </a:prstGeom>
          <a:solidFill>
            <a:srgbClr val="C6D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16452" y="3511296"/>
            <a:ext cx="2135124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A2A21"/>
                </a:solidFill>
                <a:latin typeface="Segoe UI"/>
              </a:rPr>
              <a:t>Visual Studio 2022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6452" y="3950208"/>
            <a:ext cx="21351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7666"/>
                </a:solidFill>
                <a:latin typeface="Segoe UI"/>
              </a:rPr>
              <a:t>среда разработки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27064" y="3145536"/>
            <a:ext cx="2574036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46520" y="3364991"/>
            <a:ext cx="310896" cy="45720"/>
          </a:xfrm>
          <a:prstGeom prst="rect">
            <a:avLst/>
          </a:prstGeom>
          <a:solidFill>
            <a:srgbClr val="C6D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3511296"/>
            <a:ext cx="2135124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A2A21"/>
                </a:solidFill>
                <a:latin typeface="Segoe UI"/>
              </a:rPr>
              <a:t>Стили и шаблоны WPF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3950208"/>
            <a:ext cx="21351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7666"/>
                </a:solidFill>
                <a:latin typeface="Segoe UI"/>
              </a:rPr>
              <a:t>единый UI-кит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57132" y="3145536"/>
            <a:ext cx="2574036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76588" y="3364991"/>
            <a:ext cx="310896" cy="45720"/>
          </a:xfrm>
          <a:prstGeom prst="rect">
            <a:avLst/>
          </a:prstGeom>
          <a:solidFill>
            <a:srgbClr val="C6D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76588" y="3511296"/>
            <a:ext cx="2135124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A2A21"/>
                </a:solidFill>
                <a:latin typeface="Segoe UI"/>
              </a:rPr>
              <a:t>CSV / Excel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76588" y="3950208"/>
            <a:ext cx="21351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7666"/>
                </a:solidFill>
                <a:latin typeface="Segoe UI"/>
              </a:rPr>
              <a:t>экспорт отчётов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4754880"/>
            <a:ext cx="11064240" cy="1051560"/>
          </a:xfrm>
          <a:prstGeom prst="roundRect">
            <a:avLst>
              <a:gd name="adj" fmla="val 9000"/>
            </a:avLst>
          </a:prstGeom>
          <a:solidFill>
            <a:srgbClr val="EDF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4754880"/>
            <a:ext cx="1051560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A2A21"/>
                </a:solidFill>
                <a:latin typeface="Segoe UI"/>
              </a:rPr>
              <a:t>Без сторонних библиотек: столбчатая диаграмма строится из Border в Grid, линия тренда — элементом Polyline на Canvas, отчёты выводятся в DataGrid с выгрузкой в CSV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649224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7666"/>
                </a:solidFill>
                <a:latin typeface="Segoe UI"/>
              </a:rPr>
              <a:t>УП03 · Вариант 24 · Усиков А.В.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492240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6F4E37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A8BB2E"/>
                </a:solidFill>
                <a:latin typeface="Segoe UI"/>
              </a:rPr>
              <a:t>ДЕМОНСТРАЦИЯ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3A2A21"/>
                </a:solidFill>
                <a:latin typeface="Segoe UI"/>
              </a:rPr>
              <a:t>Видео приложения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868680" cy="68580"/>
          </a:xfrm>
          <a:prstGeom prst="rect">
            <a:avLst/>
          </a:prstGeom>
          <a:solidFill>
            <a:srgbClr val="C6D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481328"/>
            <a:ext cx="7589520" cy="4270248"/>
          </a:xfrm>
          <a:prstGeom prst="roundRect">
            <a:avLst>
              <a:gd name="adj" fmla="val 4000"/>
            </a:avLst>
          </a:prstGeom>
          <a:solidFill>
            <a:srgbClr val="3A2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" y="1664208"/>
            <a:ext cx="91440" cy="91440"/>
          </a:xfrm>
          <a:prstGeom prst="ellipse">
            <a:avLst/>
          </a:prstGeom>
          <a:solidFill>
            <a:srgbClr val="E08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8720" y="1664208"/>
            <a:ext cx="91440" cy="91440"/>
          </a:xfrm>
          <a:prstGeom prst="ellipse">
            <a:avLst/>
          </a:prstGeom>
          <a:solidFill>
            <a:srgbClr val="C6D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53312" y="1664208"/>
            <a:ext cx="91440" cy="91440"/>
          </a:xfrm>
          <a:prstGeom prst="ellipse">
            <a:avLst/>
          </a:prstGeom>
          <a:solidFill>
            <a:srgbClr val="9AB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86600" y="160934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F5EFE2"/>
                </a:solidFill>
                <a:latin typeface="Segoe UI"/>
              </a:rPr>
              <a:t>ВИДЕО</a:t>
            </a:r>
          </a:p>
        </p:txBody>
      </p:sp>
      <p:sp>
        <p:nvSpPr>
          <p:cNvPr id="10" name="Oval 9"/>
          <p:cNvSpPr/>
          <p:nvPr/>
        </p:nvSpPr>
        <p:spPr>
          <a:xfrm>
            <a:off x="4114800" y="3113532"/>
            <a:ext cx="1005840" cy="1005840"/>
          </a:xfrm>
          <a:prstGeom prst="ellipse">
            <a:avLst/>
          </a:prstGeom>
          <a:solidFill>
            <a:srgbClr val="C6D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4507992" y="3442716"/>
            <a:ext cx="274320" cy="347472"/>
          </a:xfrm>
          <a:prstGeom prst="triangle">
            <a:avLst/>
          </a:prstGeom>
          <a:solidFill>
            <a:srgbClr val="3A2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248656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9BCAD"/>
                </a:solidFill>
                <a:latin typeface="Segoe UI"/>
              </a:rPr>
              <a:t>WpfAppUP3.exe · экранная запись работы системы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1517904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A8BB2E"/>
                </a:solidFill>
                <a:latin typeface="Segoe UI"/>
              </a:rPr>
              <a:t>ЧТО В ДЕМОНСТРАЦИИ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1883664"/>
            <a:ext cx="402336" cy="402336"/>
          </a:xfrm>
          <a:prstGeom prst="ellipse">
            <a:avLst/>
          </a:prstGeom>
          <a:solidFill>
            <a:srgbClr val="EDF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3A2A21"/>
                </a:solidFill>
                <a:latin typeface="Segoe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60" y="186537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A2A21"/>
                </a:solidFill>
                <a:latin typeface="Segoe UI"/>
              </a:rPr>
              <a:t>Авторизация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21214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7666"/>
                </a:solidFill>
                <a:latin typeface="Segoe UI"/>
              </a:rPr>
              <a:t>вход под ролью</a:t>
            </a:r>
          </a:p>
        </p:txBody>
      </p:sp>
      <p:sp>
        <p:nvSpPr>
          <p:cNvPr id="17" name="Oval 16"/>
          <p:cNvSpPr/>
          <p:nvPr/>
        </p:nvSpPr>
        <p:spPr>
          <a:xfrm>
            <a:off x="8732520" y="2862072"/>
            <a:ext cx="402336" cy="402336"/>
          </a:xfrm>
          <a:prstGeom prst="ellipse">
            <a:avLst/>
          </a:prstGeom>
          <a:solidFill>
            <a:srgbClr val="EDF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3A2A21"/>
                </a:solidFill>
                <a:latin typeface="Segoe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284378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A2A21"/>
                </a:solidFill>
                <a:latin typeface="Segoe UI"/>
              </a:rPr>
              <a:t>Учёт брака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3099815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7666"/>
                </a:solidFill>
                <a:latin typeface="Segoe UI"/>
              </a:rPr>
              <a:t>регистрация и списание</a:t>
            </a:r>
          </a:p>
        </p:txBody>
      </p:sp>
      <p:sp>
        <p:nvSpPr>
          <p:cNvPr id="20" name="Oval 19"/>
          <p:cNvSpPr/>
          <p:nvPr/>
        </p:nvSpPr>
        <p:spPr>
          <a:xfrm>
            <a:off x="8732520" y="3840480"/>
            <a:ext cx="402336" cy="402336"/>
          </a:xfrm>
          <a:prstGeom prst="ellipse">
            <a:avLst/>
          </a:prstGeom>
          <a:solidFill>
            <a:srgbClr val="EDF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3A2A21"/>
                </a:solidFill>
                <a:latin typeface="Sego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382219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A2A21"/>
                </a:solidFill>
                <a:latin typeface="Segoe UI"/>
              </a:rPr>
              <a:t>Прогноз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407822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7666"/>
                </a:solidFill>
                <a:latin typeface="Segoe UI"/>
              </a:rPr>
              <a:t>вероятность и тренд</a:t>
            </a:r>
          </a:p>
        </p:txBody>
      </p:sp>
      <p:sp>
        <p:nvSpPr>
          <p:cNvPr id="23" name="Oval 22"/>
          <p:cNvSpPr/>
          <p:nvPr/>
        </p:nvSpPr>
        <p:spPr>
          <a:xfrm>
            <a:off x="8732520" y="4818888"/>
            <a:ext cx="402336" cy="402336"/>
          </a:xfrm>
          <a:prstGeom prst="ellipse">
            <a:avLst/>
          </a:prstGeom>
          <a:solidFill>
            <a:srgbClr val="EDF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3A2A21"/>
                </a:solidFill>
                <a:latin typeface="Segoe U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480060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A2A21"/>
                </a:solidFill>
                <a:latin typeface="Segoe UI"/>
              </a:rPr>
              <a:t>Отчёт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5056631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7666"/>
                </a:solidFill>
                <a:latin typeface="Segoe UI"/>
              </a:rPr>
              <a:t>формирование и CSV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49224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7666"/>
                </a:solidFill>
                <a:latin typeface="Segoe UI"/>
              </a:rPr>
              <a:t>УП03 · Вариант 24 · Усиков А.В.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92240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6F4E37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606040" y="4800600"/>
            <a:ext cx="3840480" cy="3840480"/>
          </a:xfrm>
          <a:prstGeom prst="ellipse">
            <a:avLst/>
          </a:prstGeom>
          <a:solidFill>
            <a:srgbClr val="EDF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-1371600"/>
            <a:ext cx="3474720" cy="3474720"/>
          </a:xfrm>
          <a:prstGeom prst="ellipse">
            <a:avLst/>
          </a:prstGeom>
          <a:solidFill>
            <a:srgbClr val="C6D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5623560"/>
            <a:ext cx="1005840" cy="1005840"/>
          </a:xfrm>
          <a:prstGeom prst="ellipse">
            <a:avLst/>
          </a:prstGeom>
          <a:solidFill>
            <a:srgbClr val="EDF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601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8BB2E"/>
                </a:solidFill>
                <a:latin typeface="Segoe UI"/>
              </a:rPr>
              <a:t>ПРОЕКТ ЗАВЕРШЁН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17320"/>
            <a:ext cx="78638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600" b="1" i="0">
                <a:solidFill>
                  <a:srgbClr val="3A2A21"/>
                </a:solidFill>
                <a:latin typeface="Segoe UI"/>
              </a:rPr>
              <a:t>Спасибо за внимание!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670048"/>
            <a:ext cx="6949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6F4E37"/>
                </a:solidFill>
                <a:latin typeface="Segoe UI"/>
              </a:rPr>
              <a:t>Информационная система для учёта брака с прогнозированием закупок качественного товара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822191"/>
            <a:ext cx="868680" cy="68580"/>
          </a:xfrm>
          <a:prstGeom prst="rect">
            <a:avLst/>
          </a:prstGeom>
          <a:solidFill>
            <a:srgbClr val="C6D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4069080"/>
            <a:ext cx="5852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A2A21"/>
                </a:solidFill>
                <a:latin typeface="Segoe UI"/>
              </a:rPr>
              <a:t>Усиков А.В. · группа ИС1-45 · вариант 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407408"/>
            <a:ext cx="5852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A7666"/>
                </a:solidFill>
                <a:latin typeface="Segoe UI"/>
              </a:rPr>
              <a:t>ГПОУ ЯО «Ярославский градостроительный колледж» ·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3886200"/>
            <a:ext cx="4160520" cy="153619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4050791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A8BB2E"/>
                </a:solidFill>
                <a:latin typeface="Segoe UI"/>
              </a:rPr>
              <a:t>ВОПРОСЫ?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4334256"/>
            <a:ext cx="3611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3A2A21"/>
                </a:solidFill>
                <a:latin typeface="Segoe UI"/>
              </a:rPr>
              <a:t>Готов продемонстрировать работу системы, структуру базы данных и алгоритм расчёта вероятности брака по поставщикам.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проекта УП03</dc:title>
  <dc:subject>Учёт брака и прогнозирование закупок</dc:subject>
  <dc:creator>Усиков А.В.</dc:creator>
  <cp:keywords/>
  <dc:description>generated using python-pptx</dc:description>
  <cp:lastModifiedBy>Усиков А.В.</cp:lastModifiedBy>
  <cp:revision>1</cp:revision>
  <dcterms:created xsi:type="dcterms:W3CDTF">2013-01-27T09:14:16Z</dcterms:created>
  <dcterms:modified xsi:type="dcterms:W3CDTF">2013-01-27T09:15:58Z</dcterms:modified>
  <cp:category/>
</cp:coreProperties>
</file>